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1E5757-5063-4AF9-84E1-10E441CA5995}" v="1" dt="2026-08-31T16:11:49.1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toth Adithya Naik" userId="b27ada265e064ba5" providerId="LiveId" clId="{CE679E08-659B-4183-A436-400F9C527327}"/>
    <pc:docChg chg="undo custSel modSld">
      <pc:chgData name="Jatoth Adithya Naik" userId="b27ada265e064ba5" providerId="LiveId" clId="{CE679E08-659B-4183-A436-400F9C527327}" dt="2026-08-31T16:12:19.380" v="24" actId="207"/>
      <pc:docMkLst>
        <pc:docMk/>
      </pc:docMkLst>
      <pc:sldChg chg="addSp modSp mod">
        <pc:chgData name="Jatoth Adithya Naik" userId="b27ada265e064ba5" providerId="LiveId" clId="{CE679E08-659B-4183-A436-400F9C527327}" dt="2026-08-31T16:12:19.380" v="24" actId="207"/>
        <pc:sldMkLst>
          <pc:docMk/>
          <pc:sldMk cId="0" sldId="256"/>
        </pc:sldMkLst>
        <pc:spChg chg="mod">
          <ac:chgData name="Jatoth Adithya Naik" userId="b27ada265e064ba5" providerId="LiveId" clId="{CE679E08-659B-4183-A436-400F9C527327}" dt="2026-08-31T16:11:15.954" v="5" actId="1076"/>
          <ac:spMkLst>
            <pc:docMk/>
            <pc:sldMk cId="0" sldId="256"/>
            <ac:spMk id="2" creationId="{00000000-0000-0000-0000-000000000000}"/>
          </ac:spMkLst>
        </pc:spChg>
        <pc:spChg chg="add mod">
          <ac:chgData name="Jatoth Adithya Naik" userId="b27ada265e064ba5" providerId="LiveId" clId="{CE679E08-659B-4183-A436-400F9C527327}" dt="2026-08-31T16:12:19.380" v="24" actId="207"/>
          <ac:spMkLst>
            <pc:docMk/>
            <pc:sldMk cId="0" sldId="256"/>
            <ac:spMk id="9" creationId="{A1527266-33F9-1643-5D57-6A33B01656F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2527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dithya-naik/customer-shopping-behavior-analysi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4F72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2874A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88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INDUSTRY-STANDARD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Analytics Portfolio Project  ·  Python + SQL + Power BI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Consumer Insights  |  3,900 Transactions  |  $233K Revenue</a:t>
            </a:r>
            <a:endParaRPr lang="en-US" sz="130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A1527266-33F9-1643-5D57-6A33B01656FB}"/>
              </a:ext>
            </a:extLst>
          </p:cNvPr>
          <p:cNvSpPr/>
          <p:nvPr/>
        </p:nvSpPr>
        <p:spPr>
          <a:xfrm>
            <a:off x="548640" y="35433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: </a:t>
            </a: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Repo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874A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&amp; Project Scope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1097280" cy="54864"/>
          </a:xfrm>
          <a:prstGeom prst="rect">
            <a:avLst/>
          </a:prstGeom>
          <a:solidFill>
            <a:srgbClr val="2874A6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14400"/>
            <a:ext cx="8412480" cy="1234440"/>
          </a:xfrm>
          <a:prstGeom prst="roundRect">
            <a:avLst>
              <a:gd name="adj" fmla="val 5926"/>
            </a:avLst>
          </a:prstGeom>
          <a:solidFill>
            <a:srgbClr val="EBF5F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the company leverage consumer shopping data to identify trends, improve customer engagement, and optimize marketing and product strategies?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1600200" cy="1920240"/>
          </a:xfrm>
          <a:prstGeom prst="roundRect">
            <a:avLst>
              <a:gd name="adj" fmla="val 4571"/>
            </a:avLst>
          </a:prstGeom>
          <a:solidFill>
            <a:srgbClr val="F4F9FC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51460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5760" y="297180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38912" y="33832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model data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084832" y="2377440"/>
            <a:ext cx="1600200" cy="1920240"/>
          </a:xfrm>
          <a:prstGeom prst="roundRect">
            <a:avLst>
              <a:gd name="adj" fmla="val 4571"/>
            </a:avLst>
          </a:prstGeom>
          <a:solidFill>
            <a:srgbClr val="F4F9FC"/>
          </a:solidFill>
          <a:ln/>
        </p:spPr>
      </p:sp>
      <p:sp>
        <p:nvSpPr>
          <p:cNvPr id="13" name="Text 11"/>
          <p:cNvSpPr/>
          <p:nvPr/>
        </p:nvSpPr>
        <p:spPr>
          <a:xfrm>
            <a:off x="2084832" y="251460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084832" y="297180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157984" y="33832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10 business Qs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803904" y="2377440"/>
            <a:ext cx="1600200" cy="1920240"/>
          </a:xfrm>
          <a:prstGeom prst="roundRect">
            <a:avLst>
              <a:gd name="adj" fmla="val 4571"/>
            </a:avLst>
          </a:prstGeom>
          <a:solidFill>
            <a:srgbClr val="F4F9FC"/>
          </a:solidFill>
          <a:ln/>
        </p:spPr>
      </p:sp>
      <p:sp>
        <p:nvSpPr>
          <p:cNvPr id="17" name="Text 15"/>
          <p:cNvSpPr/>
          <p:nvPr/>
        </p:nvSpPr>
        <p:spPr>
          <a:xfrm>
            <a:off x="3803904" y="251460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803904" y="297180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877056" y="33832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522976" y="2377440"/>
            <a:ext cx="1600200" cy="1920240"/>
          </a:xfrm>
          <a:prstGeom prst="roundRect">
            <a:avLst>
              <a:gd name="adj" fmla="val 4571"/>
            </a:avLst>
          </a:prstGeom>
          <a:solidFill>
            <a:srgbClr val="F4F9FC"/>
          </a:solidFill>
          <a:ln/>
        </p:spPr>
      </p:sp>
      <p:sp>
        <p:nvSpPr>
          <p:cNvPr id="21" name="Text 19"/>
          <p:cNvSpPr/>
          <p:nvPr/>
        </p:nvSpPr>
        <p:spPr>
          <a:xfrm>
            <a:off x="5522976" y="251460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522976" y="297180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596128" y="33832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recommendations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242048" y="2377440"/>
            <a:ext cx="1600200" cy="1920240"/>
          </a:xfrm>
          <a:prstGeom prst="roundRect">
            <a:avLst>
              <a:gd name="adj" fmla="val 4571"/>
            </a:avLst>
          </a:prstGeom>
          <a:solidFill>
            <a:srgbClr val="F4F9FC"/>
          </a:solidFill>
          <a:ln/>
        </p:spPr>
      </p:sp>
      <p:sp>
        <p:nvSpPr>
          <p:cNvPr id="25" name="Text 23"/>
          <p:cNvSpPr/>
          <p:nvPr/>
        </p:nvSpPr>
        <p:spPr>
          <a:xfrm>
            <a:off x="7242048" y="251460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242048" y="297180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315200" y="33832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packaging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  ·  Slide 2 of 9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874A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Snapshot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1097280" cy="54864"/>
          </a:xfrm>
          <a:prstGeom prst="rect">
            <a:avLst/>
          </a:prstGeom>
          <a:solidFill>
            <a:srgbClr val="2874A6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14400"/>
            <a:ext cx="2011680" cy="1051560"/>
          </a:xfrm>
          <a:prstGeom prst="roundRect">
            <a:avLst>
              <a:gd name="adj" fmla="val 6957"/>
            </a:avLst>
          </a:prstGeom>
          <a:solidFill>
            <a:srgbClr val="1B4F7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515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14600" y="914400"/>
            <a:ext cx="2011680" cy="1051560"/>
          </a:xfrm>
          <a:prstGeom prst="roundRect">
            <a:avLst>
              <a:gd name="adj" fmla="val 6957"/>
            </a:avLst>
          </a:prstGeom>
          <a:solidFill>
            <a:srgbClr val="2874A6"/>
          </a:solidFill>
          <a:ln/>
        </p:spPr>
      </p:sp>
      <p:sp>
        <p:nvSpPr>
          <p:cNvPr id="9" name="Text 7"/>
          <p:cNvSpPr/>
          <p:nvPr/>
        </p:nvSpPr>
        <p:spPr>
          <a:xfrm>
            <a:off x="2514600" y="10515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$233K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514600" y="1508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914400"/>
            <a:ext cx="2011680" cy="1051560"/>
          </a:xfrm>
          <a:prstGeom prst="roundRect">
            <a:avLst>
              <a:gd name="adj" fmla="val 6957"/>
            </a:avLst>
          </a:prstGeom>
          <a:solidFill>
            <a:srgbClr val="1B4F72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0515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$59.76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63440" y="1508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Purchase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12280" y="914400"/>
            <a:ext cx="2011680" cy="1051560"/>
          </a:xfrm>
          <a:prstGeom prst="roundRect">
            <a:avLst>
              <a:gd name="adj" fmla="val 6957"/>
            </a:avLst>
          </a:prstGeom>
          <a:solidFill>
            <a:srgbClr val="2874A6"/>
          </a:solidFill>
          <a:ln/>
        </p:spPr>
      </p:sp>
      <p:sp>
        <p:nvSpPr>
          <p:cNvPr id="15" name="Text 13"/>
          <p:cNvSpPr/>
          <p:nvPr/>
        </p:nvSpPr>
        <p:spPr>
          <a:xfrm>
            <a:off x="6812280" y="10515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3.75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812280" y="1508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Rating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21945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Dimensions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25603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Gender: 68% Male · 32% Female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28803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Subscription rate: 27% (1,053)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3200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Discount usage: 43% of orders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35204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Categories: Clothing, Accessories,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" y="38404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  Footwear, Outerwear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21945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 Highlights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46320" y="25603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37 missing ratings → category median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46320" y="28803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Columns → snake_case standard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46320" y="32004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Dropped redundant promo_code_used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46320" y="35204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Engineered age_group (quartiles)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46320" y="38404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Mapped purchase frequency → days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  ·  Slide 3 of 9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874A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Drivers &amp; Customer Segments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1097280" cy="54864"/>
          </a:xfrm>
          <a:prstGeom prst="rect">
            <a:avLst/>
          </a:prstGeom>
          <a:solidFill>
            <a:srgbClr val="2874A6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868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Gender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114800" cy="1463040"/>
          </a:xfrm>
          <a:prstGeom prst="roundRect">
            <a:avLst>
              <a:gd name="adj" fmla="val 5000"/>
            </a:avLst>
          </a:prstGeom>
          <a:solidFill>
            <a:srgbClr val="F4F9F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3258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94560" y="1325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$157,890  (68%)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16459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$59.54  ·  2,652 customers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011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94560" y="20116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$75,191  (32%)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23317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$60.25  ·  1,248 customers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868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Age Group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54880" y="118872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4F9FC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280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Adult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0" y="1280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$62,143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0" y="12801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1,028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16002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Middle-aged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0" y="1600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$59,197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0" y="16002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1920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83680" y="1920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$55,978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0" y="1920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37760" y="22402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83680" y="22402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$55,763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772400" y="22402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" y="28803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 (by Previous Purchases)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65760" y="3246120"/>
            <a:ext cx="2743200" cy="1188720"/>
          </a:xfrm>
          <a:prstGeom prst="roundRect">
            <a:avLst>
              <a:gd name="adj" fmla="val 6154"/>
            </a:avLst>
          </a:prstGeom>
          <a:solidFill>
            <a:srgbClr val="F4F9FC"/>
          </a:solidFill>
          <a:ln/>
        </p:spPr>
      </p:sp>
      <p:sp>
        <p:nvSpPr>
          <p:cNvPr id="29" name="Shape 27"/>
          <p:cNvSpPr/>
          <p:nvPr/>
        </p:nvSpPr>
        <p:spPr>
          <a:xfrm>
            <a:off x="365760" y="3246120"/>
            <a:ext cx="109728" cy="1188720"/>
          </a:xfrm>
          <a:prstGeom prst="rect">
            <a:avLst/>
          </a:prstGeom>
          <a:solidFill>
            <a:srgbClr val="B9770E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3383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0080" y="3703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prior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0080" y="3977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 customers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3246120" y="3246120"/>
            <a:ext cx="2743200" cy="1188720"/>
          </a:xfrm>
          <a:prstGeom prst="roundRect">
            <a:avLst>
              <a:gd name="adj" fmla="val 6154"/>
            </a:avLst>
          </a:prstGeom>
          <a:solidFill>
            <a:srgbClr val="F4F9FC"/>
          </a:solidFill>
          <a:ln/>
        </p:spPr>
      </p:sp>
      <p:sp>
        <p:nvSpPr>
          <p:cNvPr id="34" name="Shape 32"/>
          <p:cNvSpPr/>
          <p:nvPr/>
        </p:nvSpPr>
        <p:spPr>
          <a:xfrm>
            <a:off x="3246120" y="3246120"/>
            <a:ext cx="109728" cy="1188720"/>
          </a:xfrm>
          <a:prstGeom prst="rect">
            <a:avLst/>
          </a:prstGeom>
          <a:solidFill>
            <a:srgbClr val="2874A6"/>
          </a:solidFill>
          <a:ln/>
        </p:spPr>
      </p:sp>
      <p:sp>
        <p:nvSpPr>
          <p:cNvPr id="35" name="Text 33"/>
          <p:cNvSpPr/>
          <p:nvPr/>
        </p:nvSpPr>
        <p:spPr>
          <a:xfrm>
            <a:off x="3520440" y="3383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3520440" y="3703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2–10 prior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520440" y="3977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701 customers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6126480" y="3246120"/>
            <a:ext cx="2743200" cy="1188720"/>
          </a:xfrm>
          <a:prstGeom prst="roundRect">
            <a:avLst>
              <a:gd name="adj" fmla="val 6154"/>
            </a:avLst>
          </a:prstGeom>
          <a:solidFill>
            <a:srgbClr val="F4F9FC"/>
          </a:solidFill>
          <a:ln/>
        </p:spPr>
      </p:sp>
      <p:sp>
        <p:nvSpPr>
          <p:cNvPr id="39" name="Shape 37"/>
          <p:cNvSpPr/>
          <p:nvPr/>
        </p:nvSpPr>
        <p:spPr>
          <a:xfrm>
            <a:off x="6126480" y="3246120"/>
            <a:ext cx="109728" cy="1188720"/>
          </a:xfrm>
          <a:prstGeom prst="rect">
            <a:avLst/>
          </a:prstGeom>
          <a:solidFill>
            <a:srgbClr val="196F3D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0" y="3383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400800" y="3703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&gt;10 prior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400800" y="3977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3,116 customers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  ·  Slide 4 of 9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874A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&amp; Discount Insights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1097280" cy="54864"/>
          </a:xfrm>
          <a:prstGeom prst="rect">
            <a:avLst/>
          </a:prstGeom>
          <a:solidFill>
            <a:srgbClr val="2874A6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8686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 vs Non-Subscribers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114800" cy="1554480"/>
          </a:xfrm>
          <a:prstGeom prst="roundRect">
            <a:avLst>
              <a:gd name="adj" fmla="val 4706"/>
            </a:avLst>
          </a:prstGeom>
          <a:solidFill>
            <a:srgbClr val="F4F9F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3716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1,053 customers  ·  27%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057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spend  $59.49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3317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 $62,645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1234440"/>
            <a:ext cx="4114800" cy="1554480"/>
          </a:xfrm>
          <a:prstGeom prst="roundRect">
            <a:avLst>
              <a:gd name="adj" fmla="val 4706"/>
            </a:avLst>
          </a:prstGeom>
          <a:solidFill>
            <a:srgbClr val="F4F9FC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3716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NON-SUBSCRIBERS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6916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2,847 customers  ·  73%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46320" y="2057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spend  $59.87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23317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 $170,436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971800"/>
            <a:ext cx="8412480" cy="640080"/>
          </a:xfrm>
          <a:prstGeom prst="roundRect">
            <a:avLst>
              <a:gd name="adj" fmla="val 8571"/>
            </a:avLst>
          </a:prstGeom>
          <a:solidFill>
            <a:srgbClr val="EBF5F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1089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Average spend is nearly identical. Subscription currently drives share of customers, not higher ticket size — a clear opportunity to add exclusive member value.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37947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Discount-Dependent Products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4114800"/>
            <a:ext cx="1600200" cy="502920"/>
          </a:xfrm>
          <a:prstGeom prst="roundRect">
            <a:avLst>
              <a:gd name="adj" fmla="val 9091"/>
            </a:avLst>
          </a:prstGeom>
          <a:solidFill>
            <a:srgbClr val="F4F9FC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4133088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434340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103120" y="4114800"/>
            <a:ext cx="1600200" cy="502920"/>
          </a:xfrm>
          <a:prstGeom prst="roundRect">
            <a:avLst>
              <a:gd name="adj" fmla="val 9091"/>
            </a:avLst>
          </a:prstGeom>
          <a:solidFill>
            <a:srgbClr val="F4F9FC"/>
          </a:solidFill>
          <a:ln/>
        </p:spPr>
      </p:sp>
      <p:sp>
        <p:nvSpPr>
          <p:cNvPr id="23" name="Text 21"/>
          <p:cNvSpPr/>
          <p:nvPr/>
        </p:nvSpPr>
        <p:spPr>
          <a:xfrm>
            <a:off x="2103120" y="4133088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Sneakers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103120" y="434340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840480" y="4114800"/>
            <a:ext cx="1600200" cy="502920"/>
          </a:xfrm>
          <a:prstGeom prst="roundRect">
            <a:avLst>
              <a:gd name="adj" fmla="val 9091"/>
            </a:avLst>
          </a:prstGeom>
          <a:solidFill>
            <a:srgbClr val="F4F9FC"/>
          </a:solidFill>
          <a:ln/>
        </p:spPr>
      </p:sp>
      <p:sp>
        <p:nvSpPr>
          <p:cNvPr id="26" name="Text 24"/>
          <p:cNvSpPr/>
          <p:nvPr/>
        </p:nvSpPr>
        <p:spPr>
          <a:xfrm>
            <a:off x="3840480" y="4133088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840480" y="434340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49%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577840" y="4114800"/>
            <a:ext cx="1600200" cy="502920"/>
          </a:xfrm>
          <a:prstGeom prst="roundRect">
            <a:avLst>
              <a:gd name="adj" fmla="val 9091"/>
            </a:avLst>
          </a:prstGeom>
          <a:solidFill>
            <a:srgbClr val="F4F9FC"/>
          </a:solidFill>
          <a:ln/>
        </p:spPr>
      </p:sp>
      <p:sp>
        <p:nvSpPr>
          <p:cNvPr id="29" name="Text 27"/>
          <p:cNvSpPr/>
          <p:nvPr/>
        </p:nvSpPr>
        <p:spPr>
          <a:xfrm>
            <a:off x="5577840" y="4133088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Sweater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577840" y="434340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48%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315200" y="4114800"/>
            <a:ext cx="1600200" cy="502920"/>
          </a:xfrm>
          <a:prstGeom prst="roundRect">
            <a:avLst>
              <a:gd name="adj" fmla="val 9091"/>
            </a:avLst>
          </a:prstGeom>
          <a:solidFill>
            <a:srgbClr val="F4F9FC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0" y="4133088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315200" y="434340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  ·  Slide 5 of 9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874A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1097280" cy="54864"/>
          </a:xfrm>
          <a:prstGeom prst="rect">
            <a:avLst/>
          </a:prstGeom>
          <a:solidFill>
            <a:srgbClr val="2874A6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868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by Avg. Review Rating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114800" cy="438912"/>
          </a:xfrm>
          <a:prstGeom prst="roundRect">
            <a:avLst>
              <a:gd name="adj" fmla="val 10417"/>
            </a:avLst>
          </a:prstGeom>
          <a:solidFill>
            <a:srgbClr val="F4F9FC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984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29844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0" y="129844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3.86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1737360"/>
            <a:ext cx="4114800" cy="438912"/>
          </a:xfrm>
          <a:prstGeom prst="roundRect">
            <a:avLst>
              <a:gd name="adj" fmla="val 10417"/>
            </a:avLst>
          </a:prstGeom>
          <a:solidFill>
            <a:srgbClr val="F4F9FC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80136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18013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Sandals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00400" y="180136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3.84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4114800" cy="438912"/>
          </a:xfrm>
          <a:prstGeom prst="roundRect">
            <a:avLst>
              <a:gd name="adj" fmla="val 10417"/>
            </a:avLst>
          </a:prstGeom>
          <a:solidFill>
            <a:srgbClr val="F4F9FC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3042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230428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00400" y="230428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3.82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5760" y="2743200"/>
            <a:ext cx="4114800" cy="438912"/>
          </a:xfrm>
          <a:prstGeom prst="roundRect">
            <a:avLst>
              <a:gd name="adj" fmla="val 10417"/>
            </a:avLst>
          </a:prstGeom>
          <a:solidFill>
            <a:srgbClr val="F4F9FC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280720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28072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200400" y="280720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3.80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65760" y="3246120"/>
            <a:ext cx="4114800" cy="438912"/>
          </a:xfrm>
          <a:prstGeom prst="roundRect">
            <a:avLst>
              <a:gd name="adj" fmla="val 10417"/>
            </a:avLst>
          </a:prstGeom>
          <a:solidFill>
            <a:srgbClr val="F4F9FC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3101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" y="331012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Skirt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200400" y="331012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3.79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754880" y="868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Products by Category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754880" y="1234440"/>
            <a:ext cx="4023360" cy="548640"/>
          </a:xfrm>
          <a:prstGeom prst="roundRect">
            <a:avLst>
              <a:gd name="adj" fmla="val 8333"/>
            </a:avLst>
          </a:prstGeom>
          <a:solidFill>
            <a:srgbClr val="F4F9FC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12801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37760" y="1508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Blouse · Pants · Shirt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754880" y="1874520"/>
            <a:ext cx="4023360" cy="548640"/>
          </a:xfrm>
          <a:prstGeom prst="roundRect">
            <a:avLst>
              <a:gd name="adj" fmla="val 8333"/>
            </a:avLst>
          </a:prstGeom>
          <a:solidFill>
            <a:srgbClr val="F4F9FC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1920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37760" y="21488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Jewelry · Sunglasses · Belt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754880" y="2514600"/>
            <a:ext cx="4023360" cy="548640"/>
          </a:xfrm>
          <a:prstGeom prst="roundRect">
            <a:avLst>
              <a:gd name="adj" fmla="val 8333"/>
            </a:avLst>
          </a:prstGeom>
          <a:solidFill>
            <a:srgbClr val="F4F9FC"/>
          </a:solidFill>
          <a:ln/>
        </p:spPr>
      </p:sp>
      <p:sp>
        <p:nvSpPr>
          <p:cNvPr id="34" name="Text 32"/>
          <p:cNvSpPr/>
          <p:nvPr/>
        </p:nvSpPr>
        <p:spPr>
          <a:xfrm>
            <a:off x="4937760" y="2560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Footwear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37760" y="27889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Sandals · Shoes · Sneakers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754880" y="3154680"/>
            <a:ext cx="4023360" cy="548640"/>
          </a:xfrm>
          <a:prstGeom prst="roundRect">
            <a:avLst>
              <a:gd name="adj" fmla="val 8333"/>
            </a:avLst>
          </a:prstGeom>
          <a:solidFill>
            <a:srgbClr val="F4F9FC"/>
          </a:solidFill>
          <a:ln/>
        </p:spPr>
      </p:sp>
      <p:sp>
        <p:nvSpPr>
          <p:cNvPr id="37" name="Text 35"/>
          <p:cNvSpPr/>
          <p:nvPr/>
        </p:nvSpPr>
        <p:spPr>
          <a:xfrm>
            <a:off x="4937760" y="32004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Outerwear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937760" y="34290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Jacket · Coat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65760" y="3840480"/>
            <a:ext cx="8412480" cy="731520"/>
          </a:xfrm>
          <a:prstGeom prst="roundRect">
            <a:avLst>
              <a:gd name="adj" fmla="val 7500"/>
            </a:avLst>
          </a:prstGeom>
          <a:solidFill>
            <a:srgbClr val="EBF5FB"/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" y="40233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Revenue Mix:  Clothing $104K (45%)  ·  Accessories $74K (32%)  ·  Footwear $36K (15%)  ·  Outerwear $19K (8%)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  ·  Slide 6 of 9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874A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Shipping, Discounts &amp; Repeat Behavior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1097280" cy="54864"/>
          </a:xfrm>
          <a:prstGeom prst="rect">
            <a:avLst/>
          </a:prstGeom>
          <a:solidFill>
            <a:srgbClr val="2874A6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8686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vs Express Shipping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114800" cy="1280160"/>
          </a:xfrm>
          <a:prstGeom prst="roundRect">
            <a:avLst>
              <a:gd name="adj" fmla="val 5714"/>
            </a:avLst>
          </a:prstGeom>
          <a:solidFill>
            <a:srgbClr val="F4F9F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3716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$60.48  ·  646 orders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Higher-intent shoppers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4114800" cy="1280160"/>
          </a:xfrm>
          <a:prstGeom prst="roundRect">
            <a:avLst>
              <a:gd name="adj" fmla="val 5714"/>
            </a:avLst>
          </a:prstGeom>
          <a:solidFill>
            <a:srgbClr val="F4F9FC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3716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7373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$58.46  ·  654 orders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46320" y="21031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lower ticket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697480"/>
            <a:ext cx="8412480" cy="914400"/>
          </a:xfrm>
          <a:prstGeom prst="roundRect">
            <a:avLst>
              <a:gd name="adj" fmla="val 6000"/>
            </a:avLst>
          </a:prstGeom>
          <a:solidFill>
            <a:srgbClr val="EBF5FB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78892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High-Spending Discount Users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0632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839 customers used a discount and still spent above the $59.76 average — combined spend $66,942 (avg $79.79). Discounts are not limited to low-value shoppers.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794760"/>
            <a:ext cx="8412480" cy="822960"/>
          </a:xfrm>
          <a:prstGeom prst="roundRect">
            <a:avLst>
              <a:gd name="adj" fmla="val 6667"/>
            </a:avLst>
          </a:prstGeom>
          <a:solidFill>
            <a:srgbClr val="F4F9F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88620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Buyers (&gt;5 previous purchases) &amp; Subscription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27.6% of high-repeat customers are subscribers. Repeat purchasing alone does not convert to membership — a dedicated subscription campaign is required.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  ·  Slide 7 of 9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874A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1097280" cy="54864"/>
          </a:xfrm>
          <a:prstGeom prst="rect">
            <a:avLst/>
          </a:prstGeom>
          <a:solidFill>
            <a:srgbClr val="2874A6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868680"/>
            <a:ext cx="4160520" cy="1097280"/>
          </a:xfrm>
          <a:prstGeom prst="roundRect">
            <a:avLst>
              <a:gd name="adj" fmla="val 6667"/>
            </a:avLst>
          </a:prstGeom>
          <a:solidFill>
            <a:srgbClr val="F4F9FC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058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03327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Subscription Value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exclusive benefits (early access, free express, member SKUs) so subscription clearly increases LTV.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868680"/>
            <a:ext cx="4160520" cy="1097280"/>
          </a:xfrm>
          <a:prstGeom prst="roundRect">
            <a:avLst>
              <a:gd name="adj" fmla="val 6667"/>
            </a:avLst>
          </a:prstGeom>
          <a:solidFill>
            <a:srgbClr val="F4F9FC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0058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94960" y="103327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for Returning Segment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1371600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the 701 Returning customers with points/tiers to convert them into Loyal advocates.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103120"/>
            <a:ext cx="4160520" cy="1097280"/>
          </a:xfrm>
          <a:prstGeom prst="roundRect">
            <a:avLst>
              <a:gd name="adj" fmla="val 6667"/>
            </a:avLst>
          </a:prstGeom>
          <a:solidFill>
            <a:srgbClr val="F4F9FC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2402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226771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Discipline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2606040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Hat, Sneakers, Coat, Sweater &amp; Pants are 47–50% promo-driven. Protect margins with controlled tests.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2103120"/>
            <a:ext cx="4160520" cy="1097280"/>
          </a:xfrm>
          <a:prstGeom prst="roundRect">
            <a:avLst>
              <a:gd name="adj" fmla="val 6667"/>
            </a:avLst>
          </a:prstGeom>
          <a:solidFill>
            <a:srgbClr val="F4F9FC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2402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94960" y="226771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Positioning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92040" y="2606040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top-rated (Gloves, Sandals, Boots) and best-sellers (Blouse, Jewelry, Jacket) in campaigns.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337560"/>
            <a:ext cx="4160520" cy="1097280"/>
          </a:xfrm>
          <a:prstGeom prst="roundRect">
            <a:avLst>
              <a:gd name="adj" fmla="val 6667"/>
            </a:avLst>
          </a:prstGeom>
          <a:solidFill>
            <a:srgbClr val="F4F9FC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4747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05840" y="35021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&amp; Shipping Targeting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2920" y="3840480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Adults lead revenue; Express users spend more. Prioritize both in paid and CRM channels.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3337560"/>
            <a:ext cx="4160520" cy="1097280"/>
          </a:xfrm>
          <a:prstGeom prst="roundRect">
            <a:avLst>
              <a:gd name="adj" fmla="val 6667"/>
            </a:avLst>
          </a:prstGeom>
          <a:solidFill>
            <a:srgbClr val="F4F9FC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34747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94960" y="35021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Gender-Aware Growth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92040" y="3840480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volume drives revenue; female ticket is higher. Balance assortment and messaging for both.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  ·  Slide 8 of 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874A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Deliverables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1097280" cy="54864"/>
          </a:xfrm>
          <a:prstGeom prst="rect">
            <a:avLst/>
          </a:prstGeom>
          <a:solidFill>
            <a:srgbClr val="2874A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Python notebook — cleaning, feature engineering, DB load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SQL scripts — 10 business questions with reproducible queries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Cleaned dataset — customer_shopping_behavior_cleaned.csv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2860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Power BI dashboard — interactive stakeholder views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26517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Project report — full documentation &amp; recommendations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30175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GitHub repository — portfolio-ready structure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Ready for stakeholder review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793</Words>
  <Application>Microsoft Office PowerPoint</Application>
  <PresentationFormat>On-screen Show (16:9)</PresentationFormat>
  <Paragraphs>180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Shopping Behavior Analysis</dc:title>
  <dc:subject>End-to-End Data Analytics Project</dc:subject>
  <dc:creator>Data Analytics Portfolio</dc:creator>
  <cp:lastModifiedBy>Jatoth Adithya Naik</cp:lastModifiedBy>
  <cp:revision>1</cp:revision>
  <dcterms:created xsi:type="dcterms:W3CDTF">2026-08-31T15:41:25Z</dcterms:created>
  <dcterms:modified xsi:type="dcterms:W3CDTF">2026-08-31T16:12:30Z</dcterms:modified>
</cp:coreProperties>
</file>